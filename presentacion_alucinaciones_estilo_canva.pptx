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30.gif" ContentType="image/gif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D68696-FAAD-4A21-9863-184FBC16D2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9C6FB8-8F11-47B6-8988-A51412C2DB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036C14-26C3-4689-9B2B-883F5D5D68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1824E4-E607-484F-9520-B48DF7DF89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D58ED6-BFA5-4422-AB6E-653CF8AEA8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9CD7B9-566C-4DFA-9707-4420975D17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6D5C18-1D84-467D-B142-C9BF29B03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3229AC-0AD9-4A7C-9610-645F8ECEEA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117CAC-C234-417A-BDB2-3F622688FA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864C4A-A057-4717-BBE6-BC047A9E21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CBA8CB-F0D3-4625-8E01-D1FF2E5AC1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2F969A-3433-404C-9E87-4986700819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56A185-0704-495C-B6A6-465EC28AFC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0EF70B-A4EE-403D-A48D-54645FD807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FCF72E-7BBC-4678-B2B4-1E67024D57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697A92-2D39-4ADB-A978-F16BFB5E09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E8FD8A-8D27-4323-A9F4-BF69FA0EA2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1FEBA8-5C45-4683-A6B5-0B85B12020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35B1D5-800C-48FE-B866-532BDF0E6B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F6CC4B-A6F4-446C-9438-8853758629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028655-C99B-4DC6-8D9F-F5DC54F4C5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C579C0D-E0BA-4DEA-81B1-40F6C7891A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D02E0E-691B-4DCE-8047-9D62EEF17D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DB9674-2B93-401A-9723-23574CE4B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5D300E-85EF-4FA6-B1FA-BC635FE097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D89D7C-7CE8-4F31-B3D7-E7FF6BE15E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36F1E5-87AD-4B54-86A4-9CB7080979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DBE01A-1507-48C7-9BA3-A6EF8E23A4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46EF3C-FF11-401E-8EAC-FC5142C22D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50CCFD-D40D-41C2-A128-0BD0863AC6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7CE11A-4738-4502-9F01-8C35A37086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0B7651-5842-41B0-996E-647DC5A31B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F22468-D56D-4CE0-8D0E-2B133445CA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10DB0A-8F9C-444C-BC6E-1997ACD05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246F1F4-8083-4924-92D1-BC4B363602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F99716-1669-4134-9E45-08A237C7EF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BDF2B2-1224-4A4D-BDDF-B35E355010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D597C3-DCBC-4139-9273-60CB685ADD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390F76-4C6A-49C6-B620-D0676582FD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EB8850-6F57-4591-8288-0D98DC6707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BFFC62-FAFD-4CD6-BEB3-8FEE022E50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229F3F-03A2-4784-A299-D513827FAB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922D93-6D29-4A18-9D15-7307979C0E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Flecha superior"/>
          <p:cNvCxnSpPr/>
          <p:nvPr/>
        </p:nvCxnSpPr>
        <p:spPr>
          <a:xfrm>
            <a:off x="0" y="189720"/>
            <a:ext cx="3740400" cy="7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3" name="Flecha inferior"/>
          <p:cNvCxnSpPr/>
          <p:nvPr/>
        </p:nvCxnSpPr>
        <p:spPr>
          <a:xfrm>
            <a:off x="8329680" y="6779880"/>
            <a:ext cx="3862800" cy="7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len="med" type="triangle" w="med"/>
          </a:ln>
        </p:spPr>
      </p:cxn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Josefin San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Josefin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hyperlink" Target="https://doi.org/10.48550/arXiv.2312.10997" TargetMode="External"/><Relationship Id="rId2" Type="http://schemas.openxmlformats.org/officeDocument/2006/relationships/hyperlink" Target="https://doi.org/10.1111/jels.1241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0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Balanza de la justicia con un documento fiable y otro con texto corrupto"/>
          <p:cNvPicPr/>
          <p:nvPr/>
        </p:nvPicPr>
        <p:blipFill>
          <a:blip r:embed="rId2"/>
          <a:stretch/>
        </p:blipFill>
        <p:spPr>
          <a:xfrm>
            <a:off x="5487120" y="365760"/>
            <a:ext cx="6612480" cy="617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640080" y="731520"/>
            <a:ext cx="511992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000" b="1" u="none" strike="noStrike" cap="all">
                <a:solidFill>
                  <a:srgbClr val="111111"/>
                </a:solidFill>
                <a:effectLst/>
                <a:uFillTx/>
                <a:latin typeface="Poppins"/>
                <a:ea typeface="Poppins"/>
              </a:rPr>
              <a:t>Evaluación de alucinaciones en dominios críticos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40080" y="2788920"/>
            <a:ext cx="5119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Daniela Castaño Moreno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Nicolás Góngora Rincón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Juan José Ramos Henao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434340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50" b="0" i="1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Basado en: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40080" y="4663440"/>
            <a:ext cx="51199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3A3A34"/>
              </a:buClr>
              <a:buFont typeface="Symbol" charset="2"/>
              <a:buChar char=""/>
            </a:pPr>
            <a:r>
              <a:rPr lang="es-ES" sz="125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Gao et al. (2024). </a:t>
            </a:r>
            <a:r>
              <a:rPr lang="es-ES" sz="1250" b="0" i="1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Retrieval-Augmented Generation for Large Language Models: A Survey.</a:t>
            </a:r>
            <a:r>
              <a:rPr lang="es-ES" sz="125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 arXiv:2312.10997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3A3A34"/>
              </a:buClr>
              <a:buFont typeface="Symbol" charset="2"/>
              <a:buChar char=""/>
            </a:pPr>
            <a:r>
              <a:rPr lang="es-ES" sz="125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Magesh et al. (2025). </a:t>
            </a:r>
            <a:r>
              <a:rPr lang="es-ES" sz="1250" b="0" i="1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Hallucination-Free? Assessing the Reliability of Leading AI Legal Research Tools.</a:t>
            </a:r>
            <a:r>
              <a:rPr lang="es-ES" sz="1250" b="0" u="none" strike="noStrike">
                <a:solidFill>
                  <a:srgbClr val="3A3A34"/>
                </a:solidFill>
                <a:effectLst/>
                <a:uFillTx/>
                <a:latin typeface="Josefin Sans"/>
                <a:ea typeface="Josefin Sans"/>
              </a:rPr>
              <a:t> Journal of Empirical Legal Studies, 22(2), 216–242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Agenda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" name="Table 0"/>
          <p:cNvGraphicFramePr/>
          <p:nvPr/>
        </p:nvGraphicFramePr>
        <p:xfrm>
          <a:off x="1615320" y="1559160"/>
          <a:ext cx="8960040" cy="3254400"/>
        </p:xfrm>
        <a:graphic>
          <a:graphicData uri="http://schemas.openxmlformats.org/drawingml/2006/table">
            <a:tbl>
              <a:tblPr/>
              <a:tblGrid>
                <a:gridCol w="872280"/>
                <a:gridCol w="6369840"/>
                <a:gridCol w="1718280"/>
              </a:tblGrid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#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Tema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Tiempo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1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El problema: por qué esto importa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1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2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Qué es RAG y qué promete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1,5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3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Por qué ROUGE y BLEU no bastan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1,5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4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El marco bidimensional de evaluación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1,5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5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Evidencia empírica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1,5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6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Implementación del protocolo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2,5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7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Conclusiones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0,5 min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"/>
          <p:cNvSpPr/>
          <p:nvPr/>
        </p:nvSpPr>
        <p:spPr>
          <a:xfrm>
            <a:off x="1615320" y="4969800"/>
            <a:ext cx="8960400" cy="1151280"/>
          </a:xfrm>
          <a:prstGeom prst="roundRect">
            <a:avLst>
              <a:gd name="adj" fmla="val 7937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871280" y="5097960"/>
            <a:ext cx="844848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 tesis: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en medicina y derecho, una respuesta que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suena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bien y una respuesta que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es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bien son cosas distintas. Las métricas actuales solo miden la primera.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1. El problema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92360" y="1537560"/>
            <a:ext cx="106063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Un abogado en Nueva York fue sancionado por presentar ante un tribunal casos </a:t>
            </a:r>
            <a:r>
              <a:rPr lang="es-ES" sz="17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inventados por</a:t>
            </a: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7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ChatGPT</a:t>
            </a: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No fue un incidente aislado: se han documentado varios episodios similares.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792360" y="2293560"/>
            <a:ext cx="10606320" cy="3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9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Por qué los dominios críticos son distintos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792360" y="2738520"/>
            <a:ext cx="10606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En una tarea general, un error se corrige y ya. En derecho o medicina: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792360" y="3153240"/>
            <a:ext cx="10606320" cy="151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costo del error es </a:t>
            </a:r>
            <a:r>
              <a:rPr lang="es-ES" sz="17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asimétrico</a:t>
            </a: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una cita equivocada puede costar un caso o un paciente.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error es </a:t>
            </a:r>
            <a:r>
              <a:rPr lang="es-ES" sz="17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difícil de detectar</a:t>
            </a: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verificar exige leer las fuentes citadas y evaluar su autoridad.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Existe un </a:t>
            </a:r>
            <a:r>
              <a:rPr lang="es-ES" sz="17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deber profesional</a:t>
            </a: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de supervisión. Si el profesional debe verificar cada afirmación, la ganancia de eficiencia que promete la IA se evapora.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92360" y="4851000"/>
            <a:ext cx="10606320" cy="3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9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La pregunta de la investigación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792360" y="5295960"/>
            <a:ext cx="10606320" cy="846720"/>
          </a:xfrm>
          <a:prstGeom prst="roundRect">
            <a:avLst>
              <a:gd name="adj" fmla="val 10791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1048320" y="5423760"/>
            <a:ext cx="10094400" cy="5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Los proveedores afirman que RAG </a:t>
            </a:r>
            <a:r>
              <a:rPr lang="es-ES" sz="17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elimina</a:t>
            </a:r>
            <a:r>
              <a:rPr lang="es-ES" sz="17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las alucinaciones. </a:t>
            </a:r>
            <a:r>
              <a:rPr lang="es-ES" sz="17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¿Es cierto, y cómo lo medimos de forma que el número signifique algo?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2. Qué es RAG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1203840" y="1404000"/>
            <a:ext cx="9783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Retrieval-Augmented Generation: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en lugar de que el modelo responda de memoria, primero 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busca documentos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en una base de conocimiento y responde a partir de ellos.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"/>
          <p:cNvSpPr/>
          <p:nvPr/>
        </p:nvSpPr>
        <p:spPr>
          <a:xfrm>
            <a:off x="1203840" y="2016360"/>
            <a:ext cx="97833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 diferencia clave: pasar de un examen 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 libro cerrado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 uno 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 libro abierto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1203840" y="2400480"/>
            <a:ext cx="9783360" cy="754560"/>
          </a:xfrm>
          <a:prstGeom prst="roundRect">
            <a:avLst>
              <a:gd name="adj" fmla="val 12105"/>
            </a:avLst>
          </a:prstGeom>
          <a:solidFill>
            <a:srgbClr val="0F1C20"/>
          </a:solidFill>
          <a:ln w="12700">
            <a:solidFill>
              <a:srgbClr val="0F1C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1478160" y="2537640"/>
            <a:ext cx="923472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E6EEEE"/>
                </a:solidFill>
                <a:effectLst/>
                <a:uFillTx/>
                <a:latin typeface="Courier New"/>
                <a:ea typeface="Courier New"/>
              </a:rPr>
              <a:t>Consulta  →  RECUPERACIÓN  →  documentos  →  GENERACIÓN  →  respuesta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E6EEEE"/>
                </a:solidFill>
                <a:effectLst/>
                <a:uFillTx/>
                <a:latin typeface="Courier New"/>
                <a:ea typeface="Courier New"/>
              </a:rPr>
              <a:t>             (buscar en la BD)               (LLM + documentos)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1203840" y="3393720"/>
            <a:ext cx="97833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Los tres paradigmas (Gao et al., 2024)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Table 0"/>
          <p:cNvGraphicFramePr/>
          <p:nvPr/>
        </p:nvGraphicFramePr>
        <p:xfrm>
          <a:off x="1203840" y="3808080"/>
          <a:ext cx="9783360" cy="1855440"/>
        </p:xfrm>
        <a:graphic>
          <a:graphicData uri="http://schemas.openxmlformats.org/drawingml/2006/table">
            <a:tbl>
              <a:tblPr/>
              <a:tblGrid>
                <a:gridCol w="1471320"/>
                <a:gridCol w="5331960"/>
                <a:gridCol w="2980440"/>
              </a:tblGrid>
              <a:tr h="361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Paradigma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Qué hace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Limitación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</a:tr>
              <a:tr h="361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Naive RAG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Indexar → recuperar → generar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Recupera pasajes irrelevantes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Advanced RAG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Optimiza antes (reescritura de consulta) y después (reordenamiento)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Sigue siendo una cadena fija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Modular RAG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Módulos intercambiables: búsqueda, memoria, enrutamiento, flujos iterativos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Mayor complejidad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6"/>
          <p:cNvSpPr/>
          <p:nvPr/>
        </p:nvSpPr>
        <p:spPr>
          <a:xfrm>
            <a:off x="1203840" y="5819760"/>
            <a:ext cx="9783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Punto importante: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cada subpaso —el </a:t>
            </a:r>
            <a:r>
              <a:rPr lang="es-ES" sz="15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embedding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la búsqueda, cuántos documentos se traen, el filtrado— es una decisión de diseño que puede introducir errores.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3. La promesa comercial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792360" y="1424880"/>
            <a:ext cx="10606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Los proveedores de investigación jurídica han sido enfáticos: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792360" y="1854720"/>
            <a:ext cx="1060632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Un directivo de Thomson Reuters afirmó que RAG reduce las alucinaciones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casi a cero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LexisNexis promocionó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citas jurídicas libres de alucinación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vinculadas a la fuente.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Casetext sostuvo que su producto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no inventa hechos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792360" y="3080160"/>
            <a:ext cx="1060632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El problema de fondo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792360" y="3540240"/>
            <a:ext cx="10606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Ninguna de esas afirmaciones venía acompañada de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evidencia empírica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Y algo peor: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792360" y="3970080"/>
            <a:ext cx="10606320" cy="876960"/>
          </a:xfrm>
          <a:prstGeom prst="roundRect">
            <a:avLst>
              <a:gd name="adj" fmla="val 10417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1048320" y="4097880"/>
            <a:ext cx="100944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término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alucinación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no estaba definido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en los materiales de marketing, y las propias empresas lo usaban con significados distintos entre sí.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792360" y="5003280"/>
            <a:ext cx="1060632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Una empresa lo entendía como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inventarse un caso que no existe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Otra, como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sonar plausible y ser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falso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LexisNexis podía cumplir su promesa en el sentido más estrecho —enlazar a documentos reales— aunque esos documentos no sustentaran la afirmación.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792360" y="5981760"/>
            <a:ext cx="10606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Sin una definición precisa, la métrica no significa nada.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4. Por qué ROUGE y BLEU no bastan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1203840" y="1430280"/>
            <a:ext cx="9783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Las métricas estándar de generación de texto comparan el </a:t>
            </a: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solapamiento léxico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con una referencia.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1203840" y="1798920"/>
            <a:ext cx="978336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BLEU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mide precisión: ¿lo que dije aparecía en la referencia?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ROUGE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mide recall: ¿dije lo que había que decir?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ROUGE-L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usa la subsecuencia común más larga, así que tolera cambios de orden.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1203840" y="2841480"/>
            <a:ext cx="978336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Su punto ciego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1203840" y="3240720"/>
            <a:ext cx="97833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Ambas </a:t>
            </a: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cuentan palabras, no verifican hechos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Y en un dominio crítico eso las rompe: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" name="Table 0"/>
          <p:cNvGraphicFramePr/>
          <p:nvPr/>
        </p:nvGraphicFramePr>
        <p:xfrm>
          <a:off x="1203840" y="3609720"/>
          <a:ext cx="9783360" cy="1728000"/>
        </p:xfrm>
        <a:graphic>
          <a:graphicData uri="http://schemas.openxmlformats.org/drawingml/2006/table">
            <a:tbl>
              <a:tblPr/>
              <a:tblGrid>
                <a:gridCol w="3102840"/>
                <a:gridCol w="3261960"/>
                <a:gridCol w="3418920"/>
              </a:tblGrid>
              <a:tr h="3456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Situación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Lo que ve ROUGE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La realidad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</a:tr>
              <a:tr h="3456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Cita un caso </a:t>
                      </a:r>
                      <a:r>
                        <a:rPr lang="es-ES" sz="12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anulado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Palabras correctas → puntaje alto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La respuesta es jurídicamente falsa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Cita la jurisdicción equivocada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Vocabulario idéntico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La norma no aplica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Invierte el fallo del tribunal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Cambian dos palabras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El sentido es el opuesto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Explica bien con sinónimos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Poco solapamiento → puntaje bajo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La respuesta es correcta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Shape 5"/>
          <p:cNvSpPr/>
          <p:nvPr/>
        </p:nvSpPr>
        <p:spPr>
          <a:xfrm>
            <a:off x="1203840" y="5494680"/>
            <a:ext cx="9783360" cy="755280"/>
          </a:xfrm>
          <a:prstGeom prst="roundRect">
            <a:avLst>
              <a:gd name="adj" fmla="val 12097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459800" y="5622840"/>
            <a:ext cx="927144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Una respuesta puede tener </a:t>
            </a: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alto solapamiento léxico y ser jurídicamente catastrófica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Lo vamos a demostrar en la demo con un caso real.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5. La propuesta: descomponer en dos dimensiones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1615320" y="169308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Magesh et al. proponen dejar de tratar la alucinación como una etiqueta binaria y descomponerla en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dos ejes independientes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1615320" y="2479680"/>
            <a:ext cx="89604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Eje 1 — Corrección </a:t>
            </a:r>
            <a:r>
              <a:rPr lang="es-ES" sz="2000" b="1" i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(correctness)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1615320" y="293976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¿La respuesta es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factualmente cierta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y pertinente?</a:t>
            </a:r>
            <a:br>
              <a:rPr sz="1800"/>
            </a:b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→ 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Correcta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· 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Incorrecta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· 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Negativa (refusal)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1615320" y="3726360"/>
            <a:ext cx="89604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Eje 2 — Anclaje </a:t>
            </a:r>
            <a:r>
              <a:rPr lang="es-ES" sz="2000" b="1" i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(groundedness)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1615320" y="418644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¿Las afirmaciones están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respaldadas por las fuentes citadas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?</a:t>
            </a:r>
            <a:br>
              <a:rPr sz="1800"/>
            </a:b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→ 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Anclada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· 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Mal anclada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· 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Sin anclaje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1615320" y="4890600"/>
            <a:ext cx="896040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Por qué separarlos: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una respuesta puede ser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correcta pero mal anclada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Ocurre cuando la recuperación falla, el modelo acierta por su cuenta, y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cita una fuente que no dice eso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Eso engaña al usuario, porque la cita le da confianza injustificada.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950040"/>
            <a:ext cx="11090880" cy="48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682920"/>
            <a:ext cx="11090880" cy="535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902520"/>
            <a:ext cx="11090880" cy="491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6. Definiciones operativas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1203840" y="1377000"/>
            <a:ext cx="97833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 partir de los dos ejes se derivan tres etiquetas de alto nivel: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" name="Table 0"/>
          <p:cNvGraphicFramePr/>
          <p:nvPr/>
        </p:nvGraphicFramePr>
        <p:xfrm>
          <a:off x="1203840" y="1761120"/>
          <a:ext cx="9783000" cy="1649880"/>
        </p:xfrm>
        <a:graphic>
          <a:graphicData uri="http://schemas.openxmlformats.org/drawingml/2006/table">
            <a:tbl>
              <a:tblPr/>
              <a:tblGrid>
                <a:gridCol w="1449000"/>
                <a:gridCol w="2704680"/>
                <a:gridCol w="5629680"/>
              </a:tblGrid>
              <a:tr h="361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Etiqueta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Definición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Por qué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</a:tr>
              <a:tr h="56664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Alucinación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Incorrecta </a:t>
                      </a: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o</a:t>
                      </a: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 mal anclada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El sistema afirma algo falso, o afirma falsamente que una fuente lo respalda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Exacta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Correcta </a:t>
                      </a: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y</a:t>
                      </a: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 anclada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Es el único caso plenamente útil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Incompleta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Negativa </a:t>
                      </a:r>
                      <a:r>
                        <a:rPr lang="es-ES" sz="13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o</a:t>
                      </a: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 sin anclaje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3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No miente, pero no entrega lo que el profesional necesita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Text 2"/>
          <p:cNvSpPr/>
          <p:nvPr/>
        </p:nvSpPr>
        <p:spPr>
          <a:xfrm>
            <a:off x="1203840" y="3649320"/>
            <a:ext cx="97833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Dos decisiones de diseño que vale la pena defender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203840" y="4063680"/>
            <a:ext cx="978336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1. Una respuesta sin citas es </a:t>
            </a:r>
            <a:r>
              <a:rPr lang="es-ES" sz="1500" b="1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incompleta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no alucinación.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No hace ninguna afirmación falsa sobre sus fuentes; simplemente no da el respaldo que se requiere.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203840" y="4676400"/>
            <a:ext cx="978336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2. Este </a:t>
            </a:r>
            <a:r>
              <a:rPr lang="es-ES" sz="1500" b="1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anclaje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no es el de la literatura de computación.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Allí anclaje significa </a:t>
            </a:r>
            <a:r>
              <a:rPr lang="es-ES" sz="15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adherirse al documento recuperado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sin importar si ese documento es aplicable. Aquí se evalúan 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recuperador y generador juntos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si el sistema cita fielmente un precedente anulado, técnicamente está anclado, pero </a:t>
            </a:r>
            <a:r>
              <a:rPr lang="es-ES" sz="15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jurídicamente está mal anclado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1203840" y="5746320"/>
            <a:ext cx="9783360" cy="556920"/>
          </a:xfrm>
          <a:prstGeom prst="roundRect">
            <a:avLst>
              <a:gd name="adj" fmla="val 16393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1459800" y="5874120"/>
            <a:ext cx="927144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Ese matiz es justo el que hace que la métrica sea </a:t>
            </a:r>
            <a:r>
              <a:rPr lang="es-ES" sz="15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útil en el dominio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y no solo </a:t>
            </a:r>
            <a:r>
              <a:rPr lang="es-ES" sz="15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consistente</a:t>
            </a:r>
            <a:r>
              <a:rPr lang="es-ES" sz="15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7. Evidencia empírica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1615320" y="2724840"/>
            <a:ext cx="896040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Diseño del estudio: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202 consultas jurídicas,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preregistradas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antes de ejecutarlas para evitar sesgo de selección. Evaluación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manual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por expertos en derecho.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1615320" y="370332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Cuatro categorías de consulta: investigación general, específicas de jurisdicción o tiempo, de premisa falsa, y de recuperación factual.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1615320" y="440748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Fiabilidad entre evaluadores: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kappa de Cohen de 0,77 y 85,4 % de acuerdo. Las etiquetas están bien definidas.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135080"/>
            <a:ext cx="11090880" cy="444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089360"/>
            <a:ext cx="11090880" cy="454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620640"/>
            <a:ext cx="11090880" cy="547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INTERPRETACIÓN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1615320" y="146772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RAG sí ayuda.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GPT-4 sin recuperación alucina en el 43 % de los casos; las herramientas especializadas bajan a entre 17 % y 33 %.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1615320" y="217188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Pero la promesa de "casi cero" es falsa.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Una de cada seis respuestas de la mejor herramienta contiene información falsa o engañosa.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615320" y="2875680"/>
            <a:ext cx="89604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Cada sistema falla distinto: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615320" y="3305520"/>
            <a:ext cx="8960400" cy="29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Westlaw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alucina el doble que las demás. Una causa concreta: genera las respuestas más largas (unas 350 palabras frente a 219 y 175). Más proposiciones falsables → más probabilidad de que al menos una sea falsa, y más trabajo de verificación.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Ask Practical Law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casi no responde: el 63 % de sus respuestas son incompletas. Su universo de búsqueda está limitado a guías internas, no a la ley primaria.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Ser cauteloso no es ser confiable.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Westlaw y Practical Law responden menos que GPT-4, pero las respuestas que sí dan no son significativamente más confiables.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8. Por qué fallan: tipología de errores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Table 0"/>
          <p:cNvGraphicFramePr/>
          <p:nvPr/>
        </p:nvGraphicFramePr>
        <p:xfrm>
          <a:off x="1203840" y="1529280"/>
          <a:ext cx="9783360" cy="3039120"/>
        </p:xfrm>
        <a:graphic>
          <a:graphicData uri="http://schemas.openxmlformats.org/drawingml/2006/table">
            <a:tbl>
              <a:tblPr/>
              <a:tblGrid>
                <a:gridCol w="2950200"/>
                <a:gridCol w="6833520"/>
              </a:tblGrid>
              <a:tr h="4068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Causa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Qué ocurre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</a:tr>
              <a:tr h="658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Recuperación ingenua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No encuentra la fuente adecuada, porque recuperar exige razonamiento jurídico que la similitud de texto no captura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Autoridad inaplicable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Cita jurisdicción equivocada, norma derogada o precedente anulado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Error de razonamiento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Recupera el texto correcto pero malinterpreta el fallo, o confunde el alegato de una parte con la decisión del juez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Sicofancia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6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Acepta como cierta una premisa falsa introducida por el usuario</a:t>
                      </a:r>
                      <a:endParaRPr lang="en-US" sz="16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Shape 1"/>
          <p:cNvSpPr/>
          <p:nvPr/>
        </p:nvSpPr>
        <p:spPr>
          <a:xfrm>
            <a:off x="1203840" y="4725000"/>
            <a:ext cx="9783360" cy="1425600"/>
          </a:xfrm>
          <a:prstGeom prst="roundRect">
            <a:avLst>
              <a:gd name="adj" fmla="val 6410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1459800" y="4853160"/>
            <a:ext cx="927144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Aporte nuevo: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la evaluación general de RAG asume que los documentos recuperados son verdaderos y aplicables.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En derecho esa suposición es falsa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la ley cambia, varía por jurisdicción, y decidir si un documento es vinculante exige razonamiento no trivial.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914760" y="365760"/>
            <a:ext cx="10361160" cy="59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1414440" y="365760"/>
            <a:ext cx="9361800" cy="461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Image 1" descr="Código o figura de la presentación"/>
          <p:cNvPicPr/>
          <p:nvPr/>
        </p:nvPicPr>
        <p:blipFill>
          <a:blip r:embed="rId2"/>
          <a:stretch/>
        </p:blipFill>
        <p:spPr>
          <a:xfrm>
            <a:off x="1053000" y="5124600"/>
            <a:ext cx="10084680" cy="122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Parte II — Implementación del protocolo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685800" y="1422720"/>
            <a:ext cx="66744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Qué construimos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685800" y="1852560"/>
            <a:ext cx="6674400" cy="4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Un evaluador que </a:t>
            </a: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audita metadatos de dominio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no solo texto. La diferencia con ROUGE: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Table 0"/>
          <p:cNvGraphicFramePr/>
          <p:nvPr/>
        </p:nvGraphicFramePr>
        <p:xfrm>
          <a:off x="685800" y="2434680"/>
          <a:ext cx="6674040" cy="3066120"/>
        </p:xfrm>
        <a:graphic>
          <a:graphicData uri="http://schemas.openxmlformats.org/drawingml/2006/table">
            <a:tbl>
              <a:tblPr/>
              <a:tblGrid>
                <a:gridCol w="1953720"/>
                <a:gridCol w="1902960"/>
                <a:gridCol w="2817720"/>
              </a:tblGrid>
              <a:tr h="345600">
                <a:tc>
                  <a:txBody>
                    <a:bodyPr lIns="109440" tIns="54720" rIns="109440" bIns="54720" anchor="ctr">
                      <a:noAutofit/>
                    </a:bodyPr>
                    <a:p>
                      <a:endParaRPr lang="en-US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Josefin Sans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ROUGE-L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1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Nuestro evaluador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E7EBCB"/>
                    </a:solidFill>
                  </a:tcPr>
                </a:tc>
              </a:tr>
              <a:tr h="5364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Qué compara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Palabras contra una referencia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Citas contra metadatos de la base de conocimiento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Detecta un precedente anulado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❌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✅ </a:t>
                      </a:r>
                      <a:r>
                        <a:rPr lang="es-ES" sz="1150" b="0" u="none" strike="noStrike">
                          <a:solidFill>
                            <a:srgbClr val="9A3F1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is_still_good_law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Detecta jurisdicción equivocada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❌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✅ </a:t>
                      </a:r>
                      <a:r>
                        <a:rPr lang="es-ES" sz="1150" b="0" u="none" strike="noStrike">
                          <a:solidFill>
                            <a:srgbClr val="9A3F1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jurisdiction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Detecta una cita inventada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❌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✅ la cita no existe en la base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6400"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Detecta un fallo invertido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❌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54720" rIns="109440" b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s-ES" sz="1250" b="0" u="none" strike="noStrike">
                          <a:solidFill>
                            <a:srgbClr val="1B1B1B"/>
                          </a:solidFill>
                          <a:effectLst/>
                          <a:uFillTx/>
                          <a:latin typeface="Josefin Sans"/>
                          <a:ea typeface="Josefin Sans"/>
                        </a:rPr>
                        <a:t>✅ </a:t>
                      </a:r>
                      <a:r>
                        <a:rPr lang="es-ES" sz="1150" b="0" u="none" strike="noStrike">
                          <a:solidFill>
                            <a:srgbClr val="9A3F1F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actual_holding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54720" marB="54720">
                    <a:lnL w="9360">
                      <a:solidFill>
                        <a:srgbClr val="D3CDBD"/>
                      </a:solidFill>
                      <a:prstDash val="solid"/>
                    </a:lnL>
                    <a:lnR w="9360">
                      <a:solidFill>
                        <a:srgbClr val="D3CDBD"/>
                      </a:solidFill>
                      <a:prstDash val="solid"/>
                    </a:lnR>
                    <a:lnT w="9360">
                      <a:solidFill>
                        <a:srgbClr val="D3CDBD"/>
                      </a:solidFill>
                      <a:prstDash val="solid"/>
                    </a:lnT>
                    <a:lnB w="9360">
                      <a:solidFill>
                        <a:srgbClr val="D3CD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Text 3"/>
          <p:cNvSpPr/>
          <p:nvPr/>
        </p:nvSpPr>
        <p:spPr>
          <a:xfrm>
            <a:off x="685800" y="5618160"/>
            <a:ext cx="66744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 clave del diseño: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cada documento de la base lleva metadatos de </a:t>
            </a: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vigencia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y </a:t>
            </a:r>
            <a:r>
              <a:rPr lang="es-ES" sz="14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jurisdicción</a:t>
            </a:r>
            <a:r>
              <a:rPr lang="es-ES" sz="14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Sin ellos es imposible distinguir una cita válida de una cita muerta.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0" descr="Ilustración"/>
          <p:cNvPicPr/>
          <p:nvPr/>
        </p:nvPicPr>
        <p:blipFill>
          <a:blip r:embed="rId1"/>
          <a:stretch/>
        </p:blipFill>
        <p:spPr>
          <a:xfrm>
            <a:off x="7391160" y="2076840"/>
            <a:ext cx="4114080" cy="35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3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Estructuras de datos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Estructuras de datos"/>
          <p:cNvPicPr/>
          <p:nvPr/>
        </p:nvPicPr>
        <p:blipFill>
          <a:blip r:embed="rId1"/>
          <a:stretch/>
        </p:blipFill>
        <p:spPr>
          <a:xfrm>
            <a:off x="3768480" y="1325880"/>
            <a:ext cx="4654080" cy="50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0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917640"/>
            <a:ext cx="11090880" cy="488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448560"/>
            <a:ext cx="11090880" cy="58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El evaluador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685800" y="2423160"/>
            <a:ext cx="66744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Una sola clase con tres bloques: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685800" y="2853000"/>
            <a:ext cx="66744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①  Corrección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— correcta, incorrecta o negativa.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②  Anclaje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— recorre cada cita y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audita sus metadatos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contra la base de conocimiento.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③  Clasificación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— aplica las definiciones del marco y calcula ROUGE-L para contrastar.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685800" y="4380120"/>
            <a:ext cx="6674400" cy="876960"/>
          </a:xfrm>
          <a:prstGeom prst="roundRect">
            <a:avLst>
              <a:gd name="adj" fmla="val 10417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941760" y="4507920"/>
            <a:ext cx="61624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bloque ② es el corazón del aporte: ahí es donde se detecta lo que ninguna métrica de texto 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0" descr="Ilustración"/>
          <p:cNvPicPr/>
          <p:nvPr/>
        </p:nvPicPr>
        <p:blipFill>
          <a:blip r:embed="rId1"/>
          <a:stretch/>
        </p:blipFill>
        <p:spPr>
          <a:xfrm>
            <a:off x="7391160" y="2076840"/>
            <a:ext cx="4114080" cy="352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4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378440"/>
            <a:ext cx="11090880" cy="39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1540440" y="365760"/>
            <a:ext cx="9110520" cy="59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2228400" y="365760"/>
            <a:ext cx="7734600" cy="59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458360"/>
            <a:ext cx="1109088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1410120" y="365760"/>
            <a:ext cx="9371160" cy="59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868680" y="365760"/>
            <a:ext cx="10453320" cy="59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Demostración: el caso </a:t>
            </a:r>
            <a:r>
              <a:rPr lang="es-ES" sz="2600" b="1" i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Casey</a:t>
            </a: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 / </a:t>
            </a:r>
            <a:r>
              <a:rPr lang="es-ES" sz="2600" b="1" i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Dobbs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1615320" y="193716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escenario.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Se pregunta qué estándar aplica a las regulaciones del aborto según la Constitución de EE. UU.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1615320" y="264096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sistema RAG responde: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estándar de carga indebida, establecido en Planned Parenthood v. Casey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y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cita ese caso, que es real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615320" y="3427560"/>
            <a:ext cx="896040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Por qué es una alucinación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1615320" y="388764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Casey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fue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anulado en 2022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por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Dobbs v. Jackson Women's Health Organization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El estándar vigente es otro.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1615320" y="4591800"/>
            <a:ext cx="8960400" cy="1151280"/>
          </a:xfrm>
          <a:prstGeom prst="roundRect">
            <a:avLst>
              <a:gd name="adj" fmla="val 7937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1871280" y="4719960"/>
            <a:ext cx="844848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Es el caso perfecto: la cita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existe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el texto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suena correcto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y el solapamiento léxico con la verdad es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razonable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Ninguna métrica superficial lo detecta.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684000"/>
            <a:ext cx="11090880" cy="535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083960"/>
            <a:ext cx="11090880" cy="455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2138040"/>
            <a:ext cx="11090880" cy="24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443240"/>
            <a:ext cx="11090880" cy="38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112400"/>
            <a:ext cx="11090880" cy="449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Image 0" descr="Código o figura de la presentación"/>
          <p:cNvPicPr/>
          <p:nvPr/>
        </p:nvPicPr>
        <p:blipFill>
          <a:blip r:embed="rId1"/>
          <a:stretch/>
        </p:blipFill>
        <p:spPr>
          <a:xfrm>
            <a:off x="550080" y="1246680"/>
            <a:ext cx="11090880" cy="422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9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Qué demuestra la demostración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1615320" y="2030040"/>
            <a:ext cx="89604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ROUGE-L dio 0,368.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En muchos trabajos ese valor se reporta como un resultado aceptable.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1615320" y="2734200"/>
            <a:ext cx="89604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evaluador de dominio detectó dos errores distintos: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1615320" y="3163680"/>
            <a:ext cx="89604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79360" indent="-279360" algn="just" defTabSz="914400">
              <a:lnSpc>
                <a:spcPct val="100000"/>
              </a:lnSpc>
              <a:spcAft>
                <a:spcPts val="601"/>
              </a:spcAft>
              <a:buClr>
                <a:srgbClr val="9A3F1F"/>
              </a:buClr>
              <a:buFont typeface="Poppins"/>
              <a:buAutoNum type="arabicPeriod"/>
            </a:pP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MISUNDERSTANDING_HOLDING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— el fallo citado ya no es el criterio vigente.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9360" indent="-279360" algn="just" defTabSz="914400">
              <a:lnSpc>
                <a:spcPct val="100000"/>
              </a:lnSpc>
              <a:spcAft>
                <a:spcPts val="601"/>
              </a:spcAft>
              <a:buClr>
                <a:srgbClr val="9A3F1F"/>
              </a:buClr>
              <a:buFont typeface="Poppins"/>
              <a:buAutoNum type="arabicPeriod"/>
            </a:pP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INAPPLICABLE_AUTHORITY_OVERRULED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— la autoridad fue anulada.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1615320" y="4224600"/>
            <a:ext cx="8960400" cy="1425600"/>
          </a:xfrm>
          <a:prstGeom prst="roundRect">
            <a:avLst>
              <a:gd name="adj" fmla="val 6410"/>
            </a:avLst>
          </a:prstGeom>
          <a:solidFill>
            <a:srgbClr val="E7EBCB"/>
          </a:solidFill>
          <a:ln w="12700">
            <a:solidFill>
              <a:srgbClr val="E7EB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1871280" y="4352400"/>
            <a:ext cx="844848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punto de todo el trabajo: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si hubiéramos evaluado este sistema únicamente con métricas superficiales, lo habríamos aprobado. Un abogado que confiara en esa respuesta citaría ante un tribunal un precedente anulado hace tres años.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Limitaciones honestas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1203840" y="138528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De nuestra implementación: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1203840" y="1815120"/>
            <a:ext cx="9783360" cy="186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 corrección factual entra como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bandera manual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(</a:t>
            </a:r>
            <a:r>
              <a:rPr lang="es-ES" sz="1660" b="0" u="none" strike="noStrike">
                <a:solidFill>
                  <a:srgbClr val="9A3F1F"/>
                </a:solidFill>
                <a:effectLst/>
                <a:uFillTx/>
                <a:latin typeface="Courier New"/>
                <a:ea typeface="Courier New"/>
              </a:rPr>
              <a:t>is_negated_holding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). Automatizarla exigiría comparar contra el fallo real, que es precisamente la parte difícil.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 jurisdicción se compara por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igualdad estricta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. La jerarquía real es un grafo: un tribunal superior vincula a los inferiores de su circuito.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 base de conocimiento es un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ejemplo mínimo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de un solo caso.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1203840" y="378108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Del estudio original: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1203840" y="4210920"/>
            <a:ext cx="9783360" cy="213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Evaluación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manual y costosa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no se puede dejar que las herramientas se autoevalúen, porque la fidelidad a la autoridad es justo lo que está en duda.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Es una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foto en el tiempo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los sistemas cambian, y son cerrados, sin acceso programático.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El anclaje existe en un </a:t>
            </a: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espectro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: una cita anulada puede seguir siendo útil como punto de partida de una investigación, aunque aquí se codifique como mal anclada.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Conclusiones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1203840" y="1484280"/>
            <a:ext cx="97833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1. RAG reduce las alucinaciones, pero no las elimina.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De 43 % sin recuperación a entre 17 % y 33 % con ella. La promesa de "cero" no se sostiene.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1203840" y="2127600"/>
            <a:ext cx="97833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2. Las métricas superficiales no sirven para dominios críticos.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Lo demostramos: ROUGE-L aprobó una respuesta que cita un precedente anulado.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"/>
          <p:cNvSpPr/>
          <p:nvPr/>
        </p:nvSpPr>
        <p:spPr>
          <a:xfrm>
            <a:off x="1203840" y="2770560"/>
            <a:ext cx="97833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3. La evaluación útil exige descomponer y auditar metadatos.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Separar </a:t>
            </a: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corrección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de </a:t>
            </a: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anclaje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, y verificar </a:t>
            </a: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vigencia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y </a:t>
            </a: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jurisdicción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de cada cita.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1203840" y="3413880"/>
            <a:ext cx="97833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4. El diagnóstico dirige la solución.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Lexis falla al recuperar; Westlaw falla al razonar. Mejorar el recuperador no arregla a Westlaw.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203840" y="413928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5E7A12"/>
                </a:solidFill>
                <a:effectLst/>
                <a:uFillTx/>
                <a:latin typeface="Josefin Sans"/>
                <a:ea typeface="Josefin Sans"/>
              </a:rPr>
              <a:t>Implicaciones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1203840" y="4569120"/>
            <a:ext cx="978336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Para el profesional: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el deber de competencia y supervisión exige verificar cada cita. Estas herramientas sirven como </a:t>
            </a: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primer paso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de la investigación, no como palabra final.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Para el proveedor: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afirmar "libre de alucinaciones" sin evidencia expone a responsabilidad por publicidad engañosa.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6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Para el campo: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hacen falta </a:t>
            </a:r>
            <a:r>
              <a:rPr lang="es-ES" sz="16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benchmarks</a:t>
            </a:r>
            <a:r>
              <a:rPr lang="es-ES" sz="16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públicos y auditorías de terceros. Las evaluaciones hechas por el propio vendedor no bastan.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365760"/>
            <a:ext cx="11090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600" b="1" u="none" strike="noStrike" cap="all">
                <a:solidFill>
                  <a:srgbClr val="1B1B1B"/>
                </a:solidFill>
                <a:effectLst/>
                <a:uFillTx/>
                <a:latin typeface="Poppins"/>
                <a:ea typeface="Poppins"/>
              </a:rPr>
              <a:t>Referencias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792360" y="1563480"/>
            <a:ext cx="10606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Fuentes principales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792360" y="1993320"/>
            <a:ext cx="1060632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Gao, Y., Xiong, Y., Gao, X., et al. (2024).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Retrieval-Augmented Generation for Large Language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Models: A Survey.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arXiv:2312.10997 </a:t>
            </a:r>
            <a:r>
              <a:rPr lang="es-ES" sz="1800" b="0" u="sng" strike="noStrike">
                <a:solidFill>
                  <a:srgbClr val="0563C1"/>
                </a:solidFill>
                <a:effectLst/>
                <a:uFillTx/>
                <a:latin typeface="Josefin Sans"/>
                <a:ea typeface="Josefin Sans"/>
                <a:hlinkClick r:id="rId1"/>
              </a:rPr>
              <a:t>https://doi.org/10.48550/arXiv.2312.10997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Magesh, V., Surani, F., Dahl, M., Suzgun, M., Manning, C. D., &amp; Ho, D. E. (2025).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Hallucination-Free? Assessing the Reliability of Leading AI Legal Research Tools.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Journal of Empirical Legal Studies, 22(2), 216–242. </a:t>
            </a:r>
            <a:r>
              <a:rPr lang="es-ES" sz="1800" b="0" u="sng" strike="noStrike">
                <a:solidFill>
                  <a:srgbClr val="0563C1"/>
                </a:solidFill>
                <a:effectLst/>
                <a:uFillTx/>
                <a:latin typeface="Josefin Sans"/>
                <a:ea typeface="Josefin Sans"/>
                <a:hlinkClick r:id="rId2"/>
              </a:rPr>
              <a:t>https://doi.org/10.1111/jels.12413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· preprint: arXiv:2405.20362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792360" y="3877200"/>
            <a:ext cx="10606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800" b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Complementarias citadas en la presentación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792360" y="4306680"/>
            <a:ext cx="10606320" cy="186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Dahl, M., Magesh, V., Suzgun, M., &amp; Ho, D. E. (2024).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Large Legal Fictions: Profiling Legal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Hallucinations in Large Language Models.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Journal of Legal Analysis, 16(1), 64–93.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Lewis, P., Perez, E., Piktus, A., et al. (2020).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Retrieval-Augmented Generation for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Knowledge-Intensive NLP Tasks.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NeurIPS 33.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100000"/>
              </a:lnSpc>
              <a:spcAft>
                <a:spcPts val="601"/>
              </a:spcAft>
              <a:buClr>
                <a:srgbClr val="1B1B1B"/>
              </a:buClr>
              <a:buFont typeface="Symbol" charset="2"/>
              <a:buChar char=""/>
            </a:pP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Barnett, S., et al. (2024).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Seven Failure Points When Engineering a Retrieval Augmented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</a:t>
            </a:r>
            <a:r>
              <a:rPr lang="es-ES" sz="1800" b="0" i="1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Generation System.</a:t>
            </a:r>
            <a:r>
              <a:rPr lang="es-ES" sz="1800" b="0" u="none" strike="noStrike">
                <a:solidFill>
                  <a:srgbClr val="1B1B1B"/>
                </a:solidFill>
                <a:effectLst/>
                <a:uFillTx/>
                <a:latin typeface="Josefin Sans"/>
                <a:ea typeface="Josefin Sans"/>
              </a:rPr>
              <a:t> arXiv:2401.05856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11091600" y="641916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0" u="none" strike="noStrike">
                <a:solidFill>
                  <a:srgbClr val="5B5B52"/>
                </a:solidFill>
                <a:effectLst/>
                <a:uFillTx/>
                <a:latin typeface="Josefin Sans"/>
                <a:ea typeface="Josefin Sans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9"/>
          <p:cNvSpPr/>
          <p:nvPr/>
        </p:nvSpPr>
        <p:spPr>
          <a:xfrm>
            <a:off x="457200" y="2652120"/>
            <a:ext cx="52574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600" b="1" u="none" strike="noStrike" cap="all">
                <a:solidFill>
                  <a:srgbClr val="111111"/>
                </a:solidFill>
                <a:effectLst/>
                <a:uFillTx/>
                <a:latin typeface="Poppins"/>
                <a:ea typeface="Poppins"/>
              </a:rPr>
              <a:t>¡Gracias!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"/>
          <p:cNvPicPr/>
          <p:nvPr/>
        </p:nvPicPr>
        <p:blipFill>
          <a:blip r:embed="rId2"/>
          <a:stretch/>
        </p:blipFill>
        <p:spPr>
          <a:xfrm>
            <a:off x="6400800" y="1143000"/>
            <a:ext cx="4800240" cy="480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itchFamily="0" charset="1"/>
        <a:ea typeface=""/>
        <a:cs typeface=""/>
      </a:majorFont>
      <a:minorFont>
        <a:latin typeface="Josefi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2026-09-29T20:18:07Z</dcterms:created>
  <dc:creator>PptxGenJS</dc:creator>
  <dc:description/>
  <dc:language>en-US</dc:language>
  <cp:lastModifiedBy/>
  <dcterms:modified xsi:type="dcterms:W3CDTF">2026-09-30T11:45:07Z</dcterms:modified>
  <cp:revision>4</cp:revision>
  <dc:subject>PptxGenJS Presentation</dc:subject>
  <dc:title>Evaluación de alucinaciones en dominios críticos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42</vt:i4>
  </property>
  <property fmtid="{D5CDD505-2E9C-101B-9397-08002B2CF9AE}" pid="3" name="PresentationFormat">
    <vt:lpwstr>On-screen Show (16:9)</vt:lpwstr>
  </property>
  <property fmtid="{D5CDD505-2E9C-101B-9397-08002B2CF9AE}" pid="4" name="Slides">
    <vt:i4>42</vt:i4>
  </property>
</Properties>
</file>